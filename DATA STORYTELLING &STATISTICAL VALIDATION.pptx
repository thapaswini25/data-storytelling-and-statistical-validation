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CAA1C-502A-BB91-C79A-CC0B773C28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F76853-543E-13F0-9BAB-97FEFC12CB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3D4DF3-A8CC-2FA9-9C87-6C7684EB7EF1}"/>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F2BF6B28-30C6-940F-2E7E-8EC42526B5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5F2B3-C781-1F8A-6689-61542A756610}"/>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17527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6BB3C-9C07-1236-DCBA-B97EB3A421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1CB7C3-9ED4-F120-23BC-58D253B4B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5F55E5-FB6B-250C-4E8D-B5DE9EC97937}"/>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886EA51F-8FC9-259D-72E3-13DA0B09A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144EBC-0AFA-78A7-3368-15621436442E}"/>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1250038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F9CD0-EDA0-C6CA-A6B8-1EC7A725F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21D0F8-047E-4AE9-0BB0-D2AC0BFB08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59A3FA-0A16-9B71-E6BA-92B7C4C3D064}"/>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E55E6D40-E9A3-D7A4-0EA1-761E349DA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0A1D28-4BF2-9F81-955B-D5BBB60CF053}"/>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3413051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45C94-0AD6-9C21-8A33-09F8918B36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2124A1-DE09-C464-6CA6-4FD96599FC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F9925F-CAD8-73D2-D4B7-C1EA54D95E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174C47-E673-1E15-B02E-2C7CD96E218D}"/>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6" name="Footer Placeholder 5">
            <a:extLst>
              <a:ext uri="{FF2B5EF4-FFF2-40B4-BE49-F238E27FC236}">
                <a16:creationId xmlns:a16="http://schemas.microsoft.com/office/drawing/2014/main" id="{4099E9E4-C8BE-FABA-0768-6EAFC404CE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F3EAE1-A646-F5C2-24B1-ECAFD591CFE9}"/>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1457855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0C89-B4C9-3DED-21A3-E93556B516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FA6F82-737B-6710-E9EA-916E34D0B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56AD8F-CDA6-D181-3454-D2347326E5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11696B-6EBA-4870-A8D3-CB6DF69C55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6A6CA-EA04-1679-0C86-09DCD96A87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115CFDA-12BD-E30C-85E5-CDB22CD8EAE8}"/>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8" name="Footer Placeholder 7">
            <a:extLst>
              <a:ext uri="{FF2B5EF4-FFF2-40B4-BE49-F238E27FC236}">
                <a16:creationId xmlns:a16="http://schemas.microsoft.com/office/drawing/2014/main" id="{AB159649-4D16-85D6-5E07-0977D5B715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3E7A6F-C9B7-BE0C-99A1-69FB5CC37BE5}"/>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2890946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70A76-213E-53BE-ABBA-3033E4BA26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93A5A5-176B-23F7-6D85-07427C4C32BE}"/>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4" name="Footer Placeholder 3">
            <a:extLst>
              <a:ext uri="{FF2B5EF4-FFF2-40B4-BE49-F238E27FC236}">
                <a16:creationId xmlns:a16="http://schemas.microsoft.com/office/drawing/2014/main" id="{2A7024A2-4D37-ACC9-4D2D-844D7ACB06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1F2C9B-5E1B-B205-8D6F-5C44F8000198}"/>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2813620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7B8C4B-2193-2276-905C-25C9934FC651}"/>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3" name="Footer Placeholder 2">
            <a:extLst>
              <a:ext uri="{FF2B5EF4-FFF2-40B4-BE49-F238E27FC236}">
                <a16:creationId xmlns:a16="http://schemas.microsoft.com/office/drawing/2014/main" id="{27E0DDD1-E44B-75AF-DD9C-9C4FD71FF3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A894F9-BFAD-6F82-3086-86D2E34395FD}"/>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1456384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8AC45-27FB-CEC1-A835-67F723A14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72C836-72FF-B3A0-CDCB-D44E252D9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BB81F1-9AF4-18DD-C489-653B4C57E4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0B985F-455A-4CC8-C276-61C6BCB6EA00}"/>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6" name="Footer Placeholder 5">
            <a:extLst>
              <a:ext uri="{FF2B5EF4-FFF2-40B4-BE49-F238E27FC236}">
                <a16:creationId xmlns:a16="http://schemas.microsoft.com/office/drawing/2014/main" id="{F0F4A074-1405-4B43-F21E-78E46C82C6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BE598C-09A9-2817-4269-C4C096E14B99}"/>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3561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243F-A892-BC41-844E-13265E2215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C12DC8-E5EA-6E8F-2FA8-D5A40DC9A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E1D58B-E811-9896-6404-499795C89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B93BE0-C05C-F326-056F-EAE11759B2D0}"/>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6" name="Footer Placeholder 5">
            <a:extLst>
              <a:ext uri="{FF2B5EF4-FFF2-40B4-BE49-F238E27FC236}">
                <a16:creationId xmlns:a16="http://schemas.microsoft.com/office/drawing/2014/main" id="{8F97B8A0-F757-3FC3-F6B9-864293E97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9C830-3374-8A46-EFA8-85B56936D5CC}"/>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94044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7D6E-39C1-49DB-011A-61CCD935A7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2D18A4-DA0D-A7BE-1157-00D7074AF0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D5667D-1DED-295F-4B79-59629DA9D994}"/>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582BBE2E-E109-544C-CB91-323B17DC2A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7817B6-193A-C850-6C1D-4D91BBF35747}"/>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3133489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019AFA-B8D0-93A9-AFCB-74D5303E3F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EDD280-E0B8-2EE4-B0C9-E1AB2E5D43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3AD2C-0533-2B2C-3D4D-1C9EB165D9CA}"/>
              </a:ext>
            </a:extLst>
          </p:cNvPr>
          <p:cNvSpPr>
            <a:spLocks noGrp="1"/>
          </p:cNvSpPr>
          <p:nvPr>
            <p:ph type="dt" sz="half" idx="10"/>
          </p:nvPr>
        </p:nvSpPr>
        <p:spPr/>
        <p:txBody>
          <a:body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D3D11CAE-546E-2AAB-0C5D-36B7A9531E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A50FD0-B4BA-B8BA-C66E-2846A27C6122}"/>
              </a:ext>
            </a:extLst>
          </p:cNvPr>
          <p:cNvSpPr>
            <a:spLocks noGrp="1"/>
          </p:cNvSpPr>
          <p:nvPr>
            <p:ph type="sldNum" sz="quarter" idx="12"/>
          </p:nvPr>
        </p:nvSpPr>
        <p:spPr/>
        <p:txBody>
          <a:bodyPr/>
          <a:lstStyle/>
          <a:p>
            <a:fld id="{16B3CFFE-7F19-4F74-841B-63438226E325}" type="slidenum">
              <a:rPr lang="en-IN" smtClean="0"/>
              <a:t>‹#›</a:t>
            </a:fld>
            <a:endParaRPr lang="en-IN"/>
          </a:p>
        </p:txBody>
      </p:sp>
    </p:spTree>
    <p:extLst>
      <p:ext uri="{BB962C8B-B14F-4D97-AF65-F5344CB8AC3E}">
        <p14:creationId xmlns:p14="http://schemas.microsoft.com/office/powerpoint/2010/main" val="2579220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B8A7D5-69AB-5148-1664-496DDBDDBA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9BF109-F4DF-4EB0-E6D6-6B782CA70A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D4DFEC-42D2-8679-7328-FF04D0D645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5BD150-4780-4930-9897-F37DF0476475}" type="datetimeFigureOut">
              <a:rPr lang="en-IN" smtClean="0"/>
              <a:t>22-05-2026</a:t>
            </a:fld>
            <a:endParaRPr lang="en-IN"/>
          </a:p>
        </p:txBody>
      </p:sp>
      <p:sp>
        <p:nvSpPr>
          <p:cNvPr id="5" name="Footer Placeholder 4">
            <a:extLst>
              <a:ext uri="{FF2B5EF4-FFF2-40B4-BE49-F238E27FC236}">
                <a16:creationId xmlns:a16="http://schemas.microsoft.com/office/drawing/2014/main" id="{630743AA-5214-5D3B-1146-252F1D883B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0B3BF14-8A21-4E96-EC22-18466BB76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B3CFFE-7F19-4F74-841B-63438226E325}" type="slidenum">
              <a:rPr lang="en-IN" smtClean="0"/>
              <a:t>‹#›</a:t>
            </a:fld>
            <a:endParaRPr lang="en-IN"/>
          </a:p>
        </p:txBody>
      </p:sp>
    </p:spTree>
    <p:extLst>
      <p:ext uri="{BB962C8B-B14F-4D97-AF65-F5344CB8AC3E}">
        <p14:creationId xmlns:p14="http://schemas.microsoft.com/office/powerpoint/2010/main" val="3910948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7A28-A632-7FD5-6448-6E7008349C59}"/>
              </a:ext>
            </a:extLst>
          </p:cNvPr>
          <p:cNvSpPr>
            <a:spLocks noGrp="1"/>
          </p:cNvSpPr>
          <p:nvPr>
            <p:ph type="ctrTitle"/>
          </p:nvPr>
        </p:nvSpPr>
        <p:spPr>
          <a:xfrm>
            <a:off x="1524000" y="1122363"/>
            <a:ext cx="9144000" cy="2731882"/>
          </a:xfrm>
        </p:spPr>
        <p:txBody>
          <a:bodyPr>
            <a:normAutofit fontScale="90000"/>
          </a:bodyPr>
          <a:lstStyle/>
          <a:p>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STORYTELLING &amp;</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STATISTICAL VALIDATION</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425903-D7F7-CFC1-F97C-53A716E528BB}"/>
              </a:ext>
            </a:extLst>
          </p:cNvPr>
          <p:cNvSpPr>
            <a:spLocks noGrp="1"/>
          </p:cNvSpPr>
          <p:nvPr>
            <p:ph type="subTitle" idx="1"/>
          </p:nvPr>
        </p:nvSpPr>
        <p:spPr/>
        <p:txBody>
          <a:bodyPr>
            <a:normAutofit lnSpcReduction="10000"/>
          </a:bodyPr>
          <a:lstStyle/>
          <a:p>
            <a:r>
              <a:rPr lang="en-US" dirty="0"/>
              <a:t>                                                                                   </a:t>
            </a:r>
          </a:p>
          <a:p>
            <a:endParaRPr lang="en-US" dirty="0"/>
          </a:p>
          <a:p>
            <a:r>
              <a:rPr lang="en-US" dirty="0"/>
              <a:t>                                                                                        Presented By</a:t>
            </a:r>
          </a:p>
          <a:p>
            <a:r>
              <a:rPr lang="en-US" dirty="0"/>
              <a:t>                                                                                         Dhudukala Thapaswini</a:t>
            </a:r>
            <a:endParaRPr lang="en-IN" dirty="0"/>
          </a:p>
        </p:txBody>
      </p:sp>
    </p:spTree>
    <p:extLst>
      <p:ext uri="{BB962C8B-B14F-4D97-AF65-F5344CB8AC3E}">
        <p14:creationId xmlns:p14="http://schemas.microsoft.com/office/powerpoint/2010/main" val="1536098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D89F8-C419-3DDF-399B-1D3DF9A69FFE}"/>
              </a:ext>
            </a:extLst>
          </p:cNvPr>
          <p:cNvSpPr>
            <a:spLocks noGrp="1"/>
          </p:cNvSpPr>
          <p:nvPr>
            <p:ph type="title"/>
          </p:nvPr>
        </p:nvSpPr>
        <p:spPr>
          <a:xfrm>
            <a:off x="838200" y="365126"/>
            <a:ext cx="10515600" cy="942564"/>
          </a:xfrm>
        </p:spPr>
        <p:txBody>
          <a:bodyPr/>
          <a:lstStyle/>
          <a:p>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710B55-BE8A-CBEC-FB29-336600E87B37}"/>
              </a:ext>
            </a:extLst>
          </p:cNvPr>
          <p:cNvSpPr>
            <a:spLocks noGrp="1"/>
          </p:cNvSpPr>
          <p:nvPr>
            <p:ph idx="1"/>
          </p:nvPr>
        </p:nvSpPr>
        <p:spPr>
          <a:xfrm>
            <a:off x="769374" y="1386349"/>
            <a:ext cx="10515600" cy="5024283"/>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To transform raw data into meaningful business insights through clear storytelling. </a:t>
            </a:r>
          </a:p>
          <a:p>
            <a:r>
              <a:rPr lang="en-US" dirty="0">
                <a:latin typeface="Times New Roman" panose="02020603050405020304" pitchFamily="18" charset="0"/>
                <a:cs typeface="Times New Roman" panose="02020603050405020304" pitchFamily="18" charset="0"/>
              </a:rPr>
              <a:t>To identify patterns, trends, and customer behavior using data analysis techniques. </a:t>
            </a:r>
          </a:p>
          <a:p>
            <a:r>
              <a:rPr lang="en-US" dirty="0">
                <a:latin typeface="Times New Roman" panose="02020603050405020304" pitchFamily="18" charset="0"/>
                <a:cs typeface="Times New Roman" panose="02020603050405020304" pitchFamily="18" charset="0"/>
              </a:rPr>
              <a:t>To present analytical findings in a simple, visual, and understandable manner. </a:t>
            </a:r>
          </a:p>
          <a:p>
            <a:r>
              <a:rPr lang="en-US" dirty="0">
                <a:latin typeface="Times New Roman" panose="02020603050405020304" pitchFamily="18" charset="0"/>
                <a:cs typeface="Times New Roman" panose="02020603050405020304" pitchFamily="18" charset="0"/>
              </a:rPr>
              <a:t>To support decision-making with data-driven conclusions and recommendations. </a:t>
            </a:r>
          </a:p>
          <a:p>
            <a:r>
              <a:rPr lang="en-US" dirty="0">
                <a:latin typeface="Times New Roman" panose="02020603050405020304" pitchFamily="18" charset="0"/>
                <a:cs typeface="Times New Roman" panose="02020603050405020304" pitchFamily="18" charset="0"/>
              </a:rPr>
              <a:t>To validate key findings using statistical methods for better accuracy and reliability. </a:t>
            </a:r>
          </a:p>
          <a:p>
            <a:r>
              <a:rPr lang="en-US" dirty="0">
                <a:latin typeface="Times New Roman" panose="02020603050405020304" pitchFamily="18" charset="0"/>
                <a:cs typeface="Times New Roman" panose="02020603050405020304" pitchFamily="18" charset="0"/>
              </a:rPr>
              <a:t>To compare business outcomes and measure the impact of different factors statistically. </a:t>
            </a:r>
          </a:p>
          <a:p>
            <a:r>
              <a:rPr lang="en-US" dirty="0">
                <a:latin typeface="Times New Roman" panose="02020603050405020304" pitchFamily="18" charset="0"/>
                <a:cs typeface="Times New Roman" panose="02020603050405020304" pitchFamily="18" charset="0"/>
              </a:rPr>
              <a:t>To improve communication between technical analysis and business understanding. </a:t>
            </a:r>
          </a:p>
          <a:p>
            <a:r>
              <a:rPr lang="en-US" dirty="0">
                <a:latin typeface="Times New Roman" panose="02020603050405020304" pitchFamily="18" charset="0"/>
                <a:cs typeface="Times New Roman" panose="02020603050405020304" pitchFamily="18" charset="0"/>
              </a:rPr>
              <a:t>To create an engaging presentation that effectively conveys insights and actions. </a:t>
            </a:r>
          </a:p>
          <a:p>
            <a:endParaRPr lang="en-IN" dirty="0"/>
          </a:p>
        </p:txBody>
      </p:sp>
    </p:spTree>
    <p:extLst>
      <p:ext uri="{BB962C8B-B14F-4D97-AF65-F5344CB8AC3E}">
        <p14:creationId xmlns:p14="http://schemas.microsoft.com/office/powerpoint/2010/main" val="2716454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6E3B-1A90-ABE2-63CD-4B2162ADCFCF}"/>
              </a:ext>
            </a:extLst>
          </p:cNvPr>
          <p:cNvSpPr>
            <a:spLocks noGrp="1"/>
          </p:cNvSpPr>
          <p:nvPr>
            <p:ph type="title"/>
          </p:nvPr>
        </p:nvSpPr>
        <p:spPr>
          <a:xfrm>
            <a:off x="838200" y="365125"/>
            <a:ext cx="10515600" cy="1158875"/>
          </a:xfrm>
        </p:spPr>
        <p:txBody>
          <a:bodyPr/>
          <a:lstStyle/>
          <a:p>
            <a:r>
              <a:rPr lang="en-US" b="1" dirty="0">
                <a:latin typeface="Times New Roman" panose="02020603050405020304" pitchFamily="18" charset="0"/>
                <a:cs typeface="Times New Roman" panose="02020603050405020304" pitchFamily="18" charset="0"/>
              </a:rPr>
              <a:t>DATASET OVERVIEW</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338B70-204D-E7F1-3CF4-F0EFBF4A9825}"/>
              </a:ext>
            </a:extLst>
          </p:cNvPr>
          <p:cNvSpPr>
            <a:spLocks noGrp="1"/>
          </p:cNvSpPr>
          <p:nvPr>
            <p:ph idx="1"/>
          </p:nvPr>
        </p:nvSpPr>
        <p:spPr>
          <a:xfrm>
            <a:off x="838200" y="1524000"/>
            <a:ext cx="10515600" cy="4463845"/>
          </a:xfrm>
        </p:spPr>
        <p:txBody>
          <a:bodyPr>
            <a:normAutofit lnSpcReduction="10000"/>
          </a:bodyPr>
          <a:lstStyle/>
          <a:p>
            <a:pPr marL="0" indent="0">
              <a:buNone/>
            </a:pPr>
            <a:r>
              <a:rPr lang="en-US" sz="2600" dirty="0">
                <a:latin typeface="Times New Roman" panose="02020603050405020304" pitchFamily="18" charset="0"/>
                <a:cs typeface="Times New Roman" panose="02020603050405020304" pitchFamily="18" charset="0"/>
              </a:rPr>
              <a:t>The dataset, </a:t>
            </a:r>
            <a:r>
              <a:rPr lang="en-US" sz="2600" b="1" dirty="0">
                <a:latin typeface="Times New Roman" panose="02020603050405020304" pitchFamily="18" charset="0"/>
                <a:cs typeface="Times New Roman" panose="02020603050405020304" pitchFamily="18" charset="0"/>
              </a:rPr>
              <a:t>“E-commerce Customer Behavior”</a:t>
            </a:r>
            <a:r>
              <a:rPr lang="en-US" sz="2600" dirty="0">
                <a:latin typeface="Times New Roman" panose="02020603050405020304" pitchFamily="18" charset="0"/>
                <a:cs typeface="Times New Roman" panose="02020603050405020304" pitchFamily="18" charset="0"/>
              </a:rPr>
              <a:t>, contains customer transaction and shopping behavior information collected from an e-commerce platform. It is designed to analyze how customers interact with products, make purchases, and respond to factors such as discounts, payment methods, and shopping frequency.</a:t>
            </a:r>
          </a:p>
          <a:p>
            <a:r>
              <a:rPr lang="en-US" sz="2600" dirty="0">
                <a:latin typeface="Times New Roman" panose="02020603050405020304" pitchFamily="18" charset="0"/>
                <a:cs typeface="Times New Roman" panose="02020603050405020304" pitchFamily="18" charset="0"/>
              </a:rPr>
              <a:t>The dataset includes details related to:</a:t>
            </a:r>
          </a:p>
          <a:p>
            <a:r>
              <a:rPr lang="en-US" sz="2600" dirty="0">
                <a:latin typeface="Times New Roman" panose="02020603050405020304" pitchFamily="18" charset="0"/>
                <a:cs typeface="Times New Roman" panose="02020603050405020304" pitchFamily="18" charset="0"/>
              </a:rPr>
              <a:t>Customer demographics and shopping preferences </a:t>
            </a:r>
          </a:p>
          <a:p>
            <a:r>
              <a:rPr lang="en-US" sz="2600" dirty="0">
                <a:latin typeface="Times New Roman" panose="02020603050405020304" pitchFamily="18" charset="0"/>
                <a:cs typeface="Times New Roman" panose="02020603050405020304" pitchFamily="18" charset="0"/>
              </a:rPr>
              <a:t>Product categories and purchase patterns </a:t>
            </a:r>
          </a:p>
          <a:p>
            <a:r>
              <a:rPr lang="en-US" sz="2600" dirty="0">
                <a:latin typeface="Times New Roman" panose="02020603050405020304" pitchFamily="18" charset="0"/>
                <a:cs typeface="Times New Roman" panose="02020603050405020304" pitchFamily="18" charset="0"/>
              </a:rPr>
              <a:t>Total spending and transaction behavior </a:t>
            </a:r>
          </a:p>
          <a:p>
            <a:r>
              <a:rPr lang="en-US" sz="2600" dirty="0">
                <a:latin typeface="Times New Roman" panose="02020603050405020304" pitchFamily="18" charset="0"/>
                <a:cs typeface="Times New Roman" panose="02020603050405020304" pitchFamily="18" charset="0"/>
              </a:rPr>
              <a:t>Discount usage and payment methods </a:t>
            </a:r>
          </a:p>
          <a:p>
            <a:r>
              <a:rPr lang="en-US" sz="2600" dirty="0">
                <a:latin typeface="Times New Roman" panose="02020603050405020304" pitchFamily="18" charset="0"/>
                <a:cs typeface="Times New Roman" panose="02020603050405020304" pitchFamily="18" charset="0"/>
              </a:rPr>
              <a:t>Customer satisfaction and engagement trends </a:t>
            </a:r>
          </a:p>
          <a:p>
            <a:endParaRPr lang="en-IN" dirty="0"/>
          </a:p>
        </p:txBody>
      </p:sp>
    </p:spTree>
    <p:extLst>
      <p:ext uri="{BB962C8B-B14F-4D97-AF65-F5344CB8AC3E}">
        <p14:creationId xmlns:p14="http://schemas.microsoft.com/office/powerpoint/2010/main" val="513124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A9E821-130D-8FE7-2B02-D685EFCAD892}"/>
              </a:ext>
            </a:extLst>
          </p:cNvPr>
          <p:cNvSpPr txBox="1"/>
          <p:nvPr/>
        </p:nvSpPr>
        <p:spPr>
          <a:xfrm>
            <a:off x="403123" y="462117"/>
            <a:ext cx="10933471" cy="3693319"/>
          </a:xfrm>
          <a:prstGeom prst="rect">
            <a:avLst/>
          </a:prstGeom>
          <a:noFill/>
        </p:spPr>
        <p:txBody>
          <a:bodyPr wrap="square">
            <a:spAutoFit/>
          </a:bodyPr>
          <a:lstStyle/>
          <a:p>
            <a:pPr>
              <a:buNone/>
            </a:pPr>
            <a:r>
              <a:rPr lang="en-US" sz="2600" dirty="0">
                <a:latin typeface="Times New Roman" panose="02020603050405020304" pitchFamily="18" charset="0"/>
                <a:cs typeface="Times New Roman" panose="02020603050405020304" pitchFamily="18" charset="0"/>
              </a:rPr>
              <a:t>This dataset is useful for:</a:t>
            </a:r>
          </a:p>
          <a:p>
            <a:pPr lvl="1">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Exploratory Data Analysis (EDA) </a:t>
            </a:r>
          </a:p>
          <a:p>
            <a:pPr lvl="1">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Customer Segmentation Analysis </a:t>
            </a:r>
          </a:p>
          <a:p>
            <a:pPr lvl="1">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Sales and Revenue Insights </a:t>
            </a:r>
          </a:p>
          <a:p>
            <a:pPr lvl="1">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Statistical Validation and Hypothesis Testing </a:t>
            </a:r>
          </a:p>
          <a:p>
            <a:pPr lvl="1">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Data Storytelling and Business Decision-Making </a:t>
            </a:r>
          </a:p>
          <a:p>
            <a:pPr>
              <a:buNone/>
            </a:pPr>
            <a:r>
              <a:rPr lang="en-US" sz="2600" dirty="0">
                <a:latin typeface="Times New Roman" panose="02020603050405020304" pitchFamily="18" charset="0"/>
                <a:cs typeface="Times New Roman" panose="02020603050405020304" pitchFamily="18" charset="0"/>
              </a:rPr>
              <a:t>By analyzing this dataset, businesses can better understand customer behavior, improve marketing strategies, enhance customer experience, and make data-driven decisions to increase overall business performance</a:t>
            </a:r>
            <a:r>
              <a:rPr lang="en-US" sz="2600" dirty="0"/>
              <a:t>.</a:t>
            </a:r>
          </a:p>
        </p:txBody>
      </p:sp>
    </p:spTree>
    <p:extLst>
      <p:ext uri="{BB962C8B-B14F-4D97-AF65-F5344CB8AC3E}">
        <p14:creationId xmlns:p14="http://schemas.microsoft.com/office/powerpoint/2010/main" val="32602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D1ED0-0F6A-49B9-1874-DBC20178CAE4}"/>
              </a:ext>
            </a:extLst>
          </p:cNvPr>
          <p:cNvSpPr>
            <a:spLocks noGrp="1"/>
          </p:cNvSpPr>
          <p:nvPr>
            <p:ph type="title"/>
          </p:nvPr>
        </p:nvSpPr>
        <p:spPr>
          <a:xfrm>
            <a:off x="838200" y="365125"/>
            <a:ext cx="10515600" cy="942565"/>
          </a:xfrm>
        </p:spPr>
        <p:txBody>
          <a:bodyPr/>
          <a:lstStyle/>
          <a:p>
            <a:r>
              <a:rPr lang="en-US" b="1" dirty="0">
                <a:latin typeface="Times New Roman" panose="02020603050405020304" pitchFamily="18" charset="0"/>
                <a:cs typeface="Times New Roman" panose="02020603050405020304" pitchFamily="18" charset="0"/>
              </a:rPr>
              <a:t>DATA CLEANING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CF987B-4580-6058-675A-8BD932EA609D}"/>
              </a:ext>
            </a:extLst>
          </p:cNvPr>
          <p:cNvSpPr>
            <a:spLocks noGrp="1"/>
          </p:cNvSpPr>
          <p:nvPr>
            <p:ph idx="1"/>
          </p:nvPr>
        </p:nvSpPr>
        <p:spPr>
          <a:xfrm>
            <a:off x="838200" y="1307690"/>
            <a:ext cx="10515600" cy="5185185"/>
          </a:xfrm>
        </p:spPr>
        <p:txBody>
          <a:bodyPr>
            <a:normAutofit fontScale="47500" lnSpcReduction="20000"/>
          </a:bodyPr>
          <a:lstStyle/>
          <a:p>
            <a:pPr marL="0" indent="0">
              <a:buNone/>
            </a:pPr>
            <a:r>
              <a:rPr lang="en-US" sz="5500" dirty="0">
                <a:latin typeface="Times New Roman" panose="02020603050405020304" pitchFamily="18" charset="0"/>
                <a:cs typeface="Times New Roman" panose="02020603050405020304" pitchFamily="18" charset="0"/>
              </a:rPr>
              <a:t>Data cleaning is an important step performed to improve the quality, consistency, and accuracy of the dataset before analysis. The following cleaning processes were carried out on the E-commerce Customer Behavior dataset:</a:t>
            </a:r>
          </a:p>
          <a:p>
            <a:r>
              <a:rPr lang="en-US" sz="5500" dirty="0">
                <a:latin typeface="Times New Roman" panose="02020603050405020304" pitchFamily="18" charset="0"/>
                <a:cs typeface="Times New Roman" panose="02020603050405020304" pitchFamily="18" charset="0"/>
              </a:rPr>
              <a:t>Checked for missing or null values in all columns. </a:t>
            </a:r>
          </a:p>
          <a:p>
            <a:r>
              <a:rPr lang="en-US" sz="5500" dirty="0">
                <a:latin typeface="Times New Roman" panose="02020603050405020304" pitchFamily="18" charset="0"/>
                <a:cs typeface="Times New Roman" panose="02020603050405020304" pitchFamily="18" charset="0"/>
              </a:rPr>
              <a:t>Removed duplicate records to avoid repeated data analysis. </a:t>
            </a:r>
          </a:p>
          <a:p>
            <a:r>
              <a:rPr lang="en-US" sz="5500" dirty="0">
                <a:latin typeface="Times New Roman" panose="02020603050405020304" pitchFamily="18" charset="0"/>
                <a:cs typeface="Times New Roman" panose="02020603050405020304" pitchFamily="18" charset="0"/>
              </a:rPr>
              <a:t>Corrected inconsistent data formats and standardized column values. </a:t>
            </a:r>
          </a:p>
          <a:p>
            <a:r>
              <a:rPr lang="en-US" sz="5500" dirty="0">
                <a:latin typeface="Times New Roman" panose="02020603050405020304" pitchFamily="18" charset="0"/>
                <a:cs typeface="Times New Roman" panose="02020603050405020304" pitchFamily="18" charset="0"/>
              </a:rPr>
              <a:t>Verified data types for numerical and categorical attributes. </a:t>
            </a:r>
          </a:p>
          <a:p>
            <a:r>
              <a:rPr lang="en-US" sz="5500" dirty="0">
                <a:latin typeface="Times New Roman" panose="02020603050405020304" pitchFamily="18" charset="0"/>
                <a:cs typeface="Times New Roman" panose="02020603050405020304" pitchFamily="18" charset="0"/>
              </a:rPr>
              <a:t>Handled incorrect or irrelevant entries in the dataset. </a:t>
            </a:r>
          </a:p>
          <a:p>
            <a:r>
              <a:rPr lang="en-US" sz="5500" dirty="0">
                <a:latin typeface="Times New Roman" panose="02020603050405020304" pitchFamily="18" charset="0"/>
                <a:cs typeface="Times New Roman" panose="02020603050405020304" pitchFamily="18" charset="0"/>
              </a:rPr>
              <a:t>Ensured consistency in customer, product, and transaction information. </a:t>
            </a:r>
          </a:p>
          <a:p>
            <a:r>
              <a:rPr lang="en-US" sz="5500" dirty="0">
                <a:latin typeface="Times New Roman" panose="02020603050405020304" pitchFamily="18" charset="0"/>
                <a:cs typeface="Times New Roman" panose="02020603050405020304" pitchFamily="18" charset="0"/>
              </a:rPr>
              <a:t>Prepared the dataset for Exploratory Data Analysis (EDA) and statistical validation. </a:t>
            </a:r>
          </a:p>
          <a:p>
            <a:pPr marL="0" indent="0">
              <a:buNone/>
            </a:pPr>
            <a:r>
              <a:rPr lang="en-US" sz="5500" dirty="0">
                <a:latin typeface="Times New Roman" panose="02020603050405020304" pitchFamily="18" charset="0"/>
                <a:cs typeface="Times New Roman" panose="02020603050405020304" pitchFamily="18" charset="0"/>
              </a:rPr>
              <a:t>After cleaning, the dataset became more reliable and suitable for generating accurate insights, visualizations, and business recommendations.</a:t>
            </a:r>
          </a:p>
          <a:p>
            <a:pPr marL="0" indent="0">
              <a:buNone/>
            </a:pPr>
            <a:endParaRPr lang="en-IN" dirty="0"/>
          </a:p>
        </p:txBody>
      </p:sp>
    </p:spTree>
    <p:extLst>
      <p:ext uri="{BB962C8B-B14F-4D97-AF65-F5344CB8AC3E}">
        <p14:creationId xmlns:p14="http://schemas.microsoft.com/office/powerpoint/2010/main" val="1955683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856A-DED4-B22A-F60D-481E7FB6C140}"/>
              </a:ext>
            </a:extLst>
          </p:cNvPr>
          <p:cNvSpPr>
            <a:spLocks noGrp="1"/>
          </p:cNvSpPr>
          <p:nvPr>
            <p:ph type="title"/>
          </p:nvPr>
        </p:nvSpPr>
        <p:spPr>
          <a:xfrm>
            <a:off x="838200" y="365125"/>
            <a:ext cx="10515600" cy="1001559"/>
          </a:xfrm>
        </p:spPr>
        <p:txBody>
          <a:bodyPr/>
          <a:lstStyle/>
          <a:p>
            <a:r>
              <a:rPr lang="en-US" b="1" dirty="0">
                <a:latin typeface="Times New Roman" panose="02020603050405020304" pitchFamily="18" charset="0"/>
                <a:cs typeface="Times New Roman" panose="02020603050405020304" pitchFamily="18" charset="0"/>
              </a:rPr>
              <a:t>DASHBOARD OVERVIEW</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76AD86-1AB0-A76B-BB1F-EC76520081CF}"/>
              </a:ext>
            </a:extLst>
          </p:cNvPr>
          <p:cNvSpPr>
            <a:spLocks noGrp="1"/>
          </p:cNvSpPr>
          <p:nvPr>
            <p:ph idx="1"/>
          </p:nvPr>
        </p:nvSpPr>
        <p:spPr>
          <a:xfrm>
            <a:off x="838200" y="1366684"/>
            <a:ext cx="10515600" cy="5309419"/>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The dashboard provides a comprehensive visual analysis of the </a:t>
            </a:r>
            <a:r>
              <a:rPr lang="en-US" b="1" dirty="0">
                <a:latin typeface="Times New Roman" panose="02020603050405020304" pitchFamily="18" charset="0"/>
                <a:cs typeface="Times New Roman" panose="02020603050405020304" pitchFamily="18" charset="0"/>
              </a:rPr>
              <a:t>E-commerce Customer Behavior</a:t>
            </a:r>
            <a:r>
              <a:rPr lang="en-US" dirty="0">
                <a:latin typeface="Times New Roman" panose="02020603050405020304" pitchFamily="18" charset="0"/>
                <a:cs typeface="Times New Roman" panose="02020603050405020304" pitchFamily="18" charset="0"/>
              </a:rPr>
              <a:t> dataset by presenting key business insights through interactive charts, graphs, and KPIs. It helps in understanding customer purchasing patterns, spending behavior, and overall business performance in a simple and visually appealing manner.</a:t>
            </a:r>
          </a:p>
          <a:p>
            <a:r>
              <a:rPr lang="en-US" b="1" dirty="0">
                <a:latin typeface="Times New Roman" panose="02020603050405020304" pitchFamily="18" charset="0"/>
                <a:cs typeface="Times New Roman" panose="02020603050405020304" pitchFamily="18" charset="0"/>
              </a:rPr>
              <a:t>Key Highlights of the Dashboard:</a:t>
            </a:r>
          </a:p>
          <a:p>
            <a:r>
              <a:rPr lang="en-US" dirty="0">
                <a:latin typeface="Times New Roman" panose="02020603050405020304" pitchFamily="18" charset="0"/>
                <a:cs typeface="Times New Roman" panose="02020603050405020304" pitchFamily="18" charset="0"/>
              </a:rPr>
              <a:t>Analysis of customer spending and purchase trends </a:t>
            </a:r>
          </a:p>
          <a:p>
            <a:r>
              <a:rPr lang="en-US" dirty="0">
                <a:latin typeface="Times New Roman" panose="02020603050405020304" pitchFamily="18" charset="0"/>
                <a:cs typeface="Times New Roman" panose="02020603050405020304" pitchFamily="18" charset="0"/>
              </a:rPr>
              <a:t>Comparison of customers based on discount usage and payment methods </a:t>
            </a:r>
          </a:p>
          <a:p>
            <a:r>
              <a:rPr lang="en-US" dirty="0">
                <a:latin typeface="Times New Roman" panose="02020603050405020304" pitchFamily="18" charset="0"/>
                <a:cs typeface="Times New Roman" panose="02020603050405020304" pitchFamily="18" charset="0"/>
              </a:rPr>
              <a:t>Visualization of product category performance and sales distribution </a:t>
            </a:r>
          </a:p>
          <a:p>
            <a:r>
              <a:rPr lang="en-US" dirty="0">
                <a:latin typeface="Times New Roman" panose="02020603050405020304" pitchFamily="18" charset="0"/>
                <a:cs typeface="Times New Roman" panose="02020603050405020304" pitchFamily="18" charset="0"/>
              </a:rPr>
              <a:t>Identification of customer segments and shopping frequency patterns </a:t>
            </a:r>
          </a:p>
          <a:p>
            <a:r>
              <a:rPr lang="en-US" dirty="0">
                <a:latin typeface="Times New Roman" panose="02020603050405020304" pitchFamily="18" charset="0"/>
                <a:cs typeface="Times New Roman" panose="02020603050405020304" pitchFamily="18" charset="0"/>
              </a:rPr>
              <a:t>Statistical insights to validate important business findings </a:t>
            </a:r>
          </a:p>
          <a:p>
            <a:r>
              <a:rPr lang="en-US" dirty="0">
                <a:latin typeface="Times New Roman" panose="02020603050405020304" pitchFamily="18" charset="0"/>
                <a:cs typeface="Times New Roman" panose="02020603050405020304" pitchFamily="18" charset="0"/>
              </a:rPr>
              <a:t>Interactive visuals for better data exploration and decision-making </a:t>
            </a:r>
          </a:p>
          <a:p>
            <a:pPr marL="0" indent="0">
              <a:buNone/>
            </a:pPr>
            <a:endParaRPr lang="en-IN" dirty="0"/>
          </a:p>
        </p:txBody>
      </p:sp>
    </p:spTree>
    <p:extLst>
      <p:ext uri="{BB962C8B-B14F-4D97-AF65-F5344CB8AC3E}">
        <p14:creationId xmlns:p14="http://schemas.microsoft.com/office/powerpoint/2010/main" val="182491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9EB62A-332A-74BF-6401-71AE91F95BF0}"/>
              </a:ext>
            </a:extLst>
          </p:cNvPr>
          <p:cNvSpPr>
            <a:spLocks noGrp="1"/>
          </p:cNvSpPr>
          <p:nvPr>
            <p:ph idx="1"/>
          </p:nvPr>
        </p:nvSpPr>
        <p:spPr>
          <a:xfrm>
            <a:off x="838200" y="757084"/>
            <a:ext cx="10515600" cy="4768645"/>
          </a:xfrm>
        </p:spPr>
        <p:txBody>
          <a:bodyPr/>
          <a:lstStyle/>
          <a:p>
            <a:pPr marL="0" indent="0">
              <a:buNone/>
            </a:pPr>
            <a:r>
              <a:rPr lang="en-US" b="1" dirty="0">
                <a:latin typeface="Times New Roman" panose="02020603050405020304" pitchFamily="18" charset="0"/>
                <a:cs typeface="Times New Roman" panose="02020603050405020304" pitchFamily="18" charset="0"/>
              </a:rPr>
              <a:t>Purpose of the Dashboard:</a:t>
            </a:r>
          </a:p>
          <a:p>
            <a:r>
              <a:rPr lang="en-US" dirty="0">
                <a:latin typeface="Times New Roman" panose="02020603050405020304" pitchFamily="18" charset="0"/>
                <a:cs typeface="Times New Roman" panose="02020603050405020304" pitchFamily="18" charset="0"/>
              </a:rPr>
              <a:t>To convert complex data into meaningful visual insights </a:t>
            </a:r>
          </a:p>
          <a:p>
            <a:r>
              <a:rPr lang="en-US" dirty="0">
                <a:latin typeface="Times New Roman" panose="02020603050405020304" pitchFamily="18" charset="0"/>
                <a:cs typeface="Times New Roman" panose="02020603050405020304" pitchFamily="18" charset="0"/>
              </a:rPr>
              <a:t>To support data-driven business strategies and decisions </a:t>
            </a:r>
          </a:p>
          <a:p>
            <a:r>
              <a:rPr lang="en-US" dirty="0">
                <a:latin typeface="Times New Roman" panose="02020603050405020304" pitchFamily="18" charset="0"/>
                <a:cs typeface="Times New Roman" panose="02020603050405020304" pitchFamily="18" charset="0"/>
              </a:rPr>
              <a:t>To identify opportunities for improving customer engagement and sales </a:t>
            </a:r>
          </a:p>
          <a:p>
            <a:r>
              <a:rPr lang="en-US" dirty="0">
                <a:latin typeface="Times New Roman" panose="02020603050405020304" pitchFamily="18" charset="0"/>
                <a:cs typeface="Times New Roman" panose="02020603050405020304" pitchFamily="18" charset="0"/>
              </a:rPr>
              <a:t>To communicate findings effectively through data storytelling techniques </a:t>
            </a:r>
          </a:p>
          <a:p>
            <a:pPr marL="0" indent="0">
              <a:buNone/>
            </a:pPr>
            <a:r>
              <a:rPr lang="en-US" dirty="0">
                <a:latin typeface="Times New Roman" panose="02020603050405020304" pitchFamily="18" charset="0"/>
                <a:cs typeface="Times New Roman" panose="02020603050405020304" pitchFamily="18" charset="0"/>
              </a:rPr>
              <a:t>The dashboard enables stakeholders to quickly interpret data, monitor business performance, and make informed decisions based on analytical insights.</a:t>
            </a:r>
          </a:p>
          <a:p>
            <a:pPr marL="0" indent="0">
              <a:buNone/>
            </a:pPr>
            <a:endParaRPr lang="en-IN" dirty="0"/>
          </a:p>
        </p:txBody>
      </p:sp>
    </p:spTree>
    <p:extLst>
      <p:ext uri="{BB962C8B-B14F-4D97-AF65-F5344CB8AC3E}">
        <p14:creationId xmlns:p14="http://schemas.microsoft.com/office/powerpoint/2010/main" val="393013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F6BBE2-428D-0753-4FA8-9837502168AC}"/>
              </a:ext>
            </a:extLst>
          </p:cNvPr>
          <p:cNvPicPr>
            <a:picLocks noGrp="1" noChangeAspect="1"/>
          </p:cNvPicPr>
          <p:nvPr>
            <p:ph idx="1"/>
          </p:nvPr>
        </p:nvPicPr>
        <p:blipFill>
          <a:blip r:embed="rId2"/>
          <a:srcRect r="541"/>
          <a:stretch>
            <a:fillRect/>
          </a:stretch>
        </p:blipFill>
        <p:spPr>
          <a:xfrm>
            <a:off x="619433" y="1012723"/>
            <a:ext cx="10835148" cy="5171767"/>
          </a:xfrm>
          <a:prstGeom prst="rect">
            <a:avLst/>
          </a:prstGeom>
        </p:spPr>
      </p:pic>
    </p:spTree>
    <p:extLst>
      <p:ext uri="{BB962C8B-B14F-4D97-AF65-F5344CB8AC3E}">
        <p14:creationId xmlns:p14="http://schemas.microsoft.com/office/powerpoint/2010/main" val="2531195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4154BA-0E1B-2F65-8BB1-7350DE56DB76}"/>
              </a:ext>
            </a:extLst>
          </p:cNvPr>
          <p:cNvPicPr>
            <a:picLocks noChangeAspect="1"/>
          </p:cNvPicPr>
          <p:nvPr/>
        </p:nvPicPr>
        <p:blipFill>
          <a:blip r:embed="rId2"/>
          <a:srcRect l="521" t="1406" b="1065"/>
          <a:stretch>
            <a:fillRect/>
          </a:stretch>
        </p:blipFill>
        <p:spPr>
          <a:xfrm>
            <a:off x="747252" y="727587"/>
            <a:ext cx="10461522" cy="5319252"/>
          </a:xfrm>
          <a:prstGeom prst="rect">
            <a:avLst/>
          </a:prstGeom>
        </p:spPr>
      </p:pic>
    </p:spTree>
    <p:extLst>
      <p:ext uri="{BB962C8B-B14F-4D97-AF65-F5344CB8AC3E}">
        <p14:creationId xmlns:p14="http://schemas.microsoft.com/office/powerpoint/2010/main" val="798296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445D63-1BB0-AAB0-9389-8A4E56C71807}"/>
              </a:ext>
            </a:extLst>
          </p:cNvPr>
          <p:cNvPicPr>
            <a:picLocks noChangeAspect="1"/>
          </p:cNvPicPr>
          <p:nvPr/>
        </p:nvPicPr>
        <p:blipFill>
          <a:blip r:embed="rId2"/>
          <a:stretch>
            <a:fillRect/>
          </a:stretch>
        </p:blipFill>
        <p:spPr>
          <a:xfrm>
            <a:off x="599768" y="521111"/>
            <a:ext cx="10717161" cy="5614218"/>
          </a:xfrm>
          <a:prstGeom prst="rect">
            <a:avLst/>
          </a:prstGeom>
        </p:spPr>
      </p:pic>
    </p:spTree>
    <p:extLst>
      <p:ext uri="{BB962C8B-B14F-4D97-AF65-F5344CB8AC3E}">
        <p14:creationId xmlns:p14="http://schemas.microsoft.com/office/powerpoint/2010/main" val="3346651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B7DC6-6DF7-D772-BF2E-5838D0D8A0A4}"/>
              </a:ext>
            </a:extLst>
          </p:cNvPr>
          <p:cNvSpPr>
            <a:spLocks noGrp="1"/>
          </p:cNvSpPr>
          <p:nvPr>
            <p:ph type="title"/>
          </p:nvPr>
        </p:nvSpPr>
        <p:spPr>
          <a:xfrm>
            <a:off x="612059" y="306132"/>
            <a:ext cx="10515600" cy="991727"/>
          </a:xfrm>
        </p:spPr>
        <p:txBody>
          <a:bodyPr/>
          <a:lstStyle/>
          <a:p>
            <a:r>
              <a:rPr lang="en-US" b="1" dirty="0">
                <a:latin typeface="Times New Roman" panose="02020603050405020304" pitchFamily="18" charset="0"/>
                <a:cs typeface="Times New Roman" panose="02020603050405020304" pitchFamily="18" charset="0"/>
              </a:rPr>
              <a:t>CUSTOMER INSIGHTS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30DCCD-5805-747F-32BA-732A591B6A6B}"/>
              </a:ext>
            </a:extLst>
          </p:cNvPr>
          <p:cNvSpPr>
            <a:spLocks noGrp="1"/>
          </p:cNvSpPr>
          <p:nvPr>
            <p:ph idx="1"/>
          </p:nvPr>
        </p:nvSpPr>
        <p:spPr>
          <a:xfrm>
            <a:off x="838200" y="1622324"/>
            <a:ext cx="10515600" cy="4554640"/>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Customers who received discounts showed higher overall spending compared to customers without discounts. </a:t>
            </a:r>
          </a:p>
          <a:p>
            <a:r>
              <a:rPr lang="en-US" dirty="0">
                <a:latin typeface="Times New Roman" panose="02020603050405020304" pitchFamily="18" charset="0"/>
                <a:cs typeface="Times New Roman" panose="02020603050405020304" pitchFamily="18" charset="0"/>
              </a:rPr>
              <a:t>Certain product categories generated more sales and attracted higher customer engagement. </a:t>
            </a:r>
          </a:p>
          <a:p>
            <a:r>
              <a:rPr lang="en-US" dirty="0">
                <a:latin typeface="Times New Roman" panose="02020603050405020304" pitchFamily="18" charset="0"/>
                <a:cs typeface="Times New Roman" panose="02020603050405020304" pitchFamily="18" charset="0"/>
              </a:rPr>
              <a:t>Most customers preferred digital payment methods due to convenience and faster transactions. </a:t>
            </a:r>
          </a:p>
          <a:p>
            <a:r>
              <a:rPr lang="en-US" dirty="0">
                <a:latin typeface="Times New Roman" panose="02020603050405020304" pitchFamily="18" charset="0"/>
                <a:cs typeface="Times New Roman" panose="02020603050405020304" pitchFamily="18" charset="0"/>
              </a:rPr>
              <a:t>Frequent shoppers contributed significantly to the total revenue of the business. </a:t>
            </a:r>
          </a:p>
          <a:p>
            <a:r>
              <a:rPr lang="en-US" dirty="0">
                <a:latin typeface="Times New Roman" panose="02020603050405020304" pitchFamily="18" charset="0"/>
                <a:cs typeface="Times New Roman" panose="02020603050405020304" pitchFamily="18" charset="0"/>
              </a:rPr>
              <a:t>Customer purchasing behavior varied based on shopping frequency and spending patterns. </a:t>
            </a:r>
          </a:p>
          <a:p>
            <a:r>
              <a:rPr lang="en-US" dirty="0">
                <a:latin typeface="Times New Roman" panose="02020603050405020304" pitchFamily="18" charset="0"/>
                <a:cs typeface="Times New Roman" panose="02020603050405020304" pitchFamily="18" charset="0"/>
              </a:rPr>
              <a:t>Statistical analysis indicated meaningful differences in spending between different customer groups. </a:t>
            </a:r>
          </a:p>
          <a:p>
            <a:r>
              <a:rPr lang="en-US" dirty="0">
                <a:latin typeface="Times New Roman" panose="02020603050405020304" pitchFamily="18" charset="0"/>
                <a:cs typeface="Times New Roman" panose="02020603050405020304" pitchFamily="18" charset="0"/>
              </a:rPr>
              <a:t>The dashboard revealed valuable trends that can help improve marketing and customer retention strategies. </a:t>
            </a:r>
          </a:p>
          <a:p>
            <a:r>
              <a:rPr lang="en-US" dirty="0">
                <a:latin typeface="Times New Roman" panose="02020603050405020304" pitchFamily="18" charset="0"/>
                <a:cs typeface="Times New Roman" panose="02020603050405020304" pitchFamily="18" charset="0"/>
              </a:rPr>
              <a:t>Understanding customer behavior enables businesses to provide personalized offers and improve customer satisfaction. </a:t>
            </a:r>
          </a:p>
          <a:p>
            <a:pPr marL="0" indent="0">
              <a:buNone/>
            </a:pPr>
            <a:endParaRPr lang="en-IN" dirty="0"/>
          </a:p>
        </p:txBody>
      </p:sp>
    </p:spTree>
    <p:extLst>
      <p:ext uri="{BB962C8B-B14F-4D97-AF65-F5344CB8AC3E}">
        <p14:creationId xmlns:p14="http://schemas.microsoft.com/office/powerpoint/2010/main" val="4516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C55C2-278E-8714-8654-FDF705A80BD1}"/>
              </a:ext>
            </a:extLst>
          </p:cNvPr>
          <p:cNvSpPr>
            <a:spLocks noGrp="1"/>
          </p:cNvSpPr>
          <p:nvPr>
            <p:ph type="title"/>
          </p:nvPr>
        </p:nvSpPr>
        <p:spPr>
          <a:xfrm>
            <a:off x="690716" y="197978"/>
            <a:ext cx="10515600" cy="981894"/>
          </a:xfrm>
        </p:spPr>
        <p:txBody>
          <a:bodyPr/>
          <a:lstStyle/>
          <a:p>
            <a:r>
              <a:rPr lang="en-US" b="1" dirty="0">
                <a:latin typeface="Times New Roman" panose="02020603050405020304" pitchFamily="18" charset="0"/>
                <a:cs typeface="Times New Roman" panose="02020603050405020304" pitchFamily="18" charset="0"/>
              </a:rPr>
              <a:t>SALES INSIGHTS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BC93FE-1C16-5276-68C3-D8D285620855}"/>
              </a:ext>
            </a:extLst>
          </p:cNvPr>
          <p:cNvSpPr>
            <a:spLocks noGrp="1"/>
          </p:cNvSpPr>
          <p:nvPr>
            <p:ph idx="1"/>
          </p:nvPr>
        </p:nvSpPr>
        <p:spPr>
          <a:xfrm>
            <a:off x="838200" y="1179872"/>
            <a:ext cx="10515600" cy="5313002"/>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Product categories with higher customer demand contributed the most to total sales revenue. </a:t>
            </a:r>
          </a:p>
          <a:p>
            <a:r>
              <a:rPr lang="en-US" dirty="0">
                <a:latin typeface="Times New Roman" panose="02020603050405020304" pitchFamily="18" charset="0"/>
                <a:cs typeface="Times New Roman" panose="02020603050405020304" pitchFamily="18" charset="0"/>
              </a:rPr>
              <a:t>Customers who used discounts generated increased purchase volumes and higher sales performance. </a:t>
            </a:r>
          </a:p>
          <a:p>
            <a:r>
              <a:rPr lang="en-US" dirty="0">
                <a:latin typeface="Times New Roman" panose="02020603050405020304" pitchFamily="18" charset="0"/>
                <a:cs typeface="Times New Roman" panose="02020603050405020304" pitchFamily="18" charset="0"/>
              </a:rPr>
              <a:t>Frequent purchases from loyal customers played a major role in overall business growth. </a:t>
            </a:r>
          </a:p>
          <a:p>
            <a:r>
              <a:rPr lang="en-US" dirty="0">
                <a:latin typeface="Times New Roman" panose="02020603050405020304" pitchFamily="18" charset="0"/>
                <a:cs typeface="Times New Roman" panose="02020603050405020304" pitchFamily="18" charset="0"/>
              </a:rPr>
              <a:t>Digital payment methods were associated with a larger number of successful transactions. </a:t>
            </a:r>
          </a:p>
          <a:p>
            <a:r>
              <a:rPr lang="en-US" dirty="0">
                <a:latin typeface="Times New Roman" panose="02020603050405020304" pitchFamily="18" charset="0"/>
                <a:cs typeface="Times New Roman" panose="02020603050405020304" pitchFamily="18" charset="0"/>
              </a:rPr>
              <a:t>Seasonal and purchasing trends helped identify peak sales periods and customer preferences. </a:t>
            </a:r>
          </a:p>
          <a:p>
            <a:r>
              <a:rPr lang="en-US" dirty="0">
                <a:latin typeface="Times New Roman" panose="02020603050405020304" pitchFamily="18" charset="0"/>
                <a:cs typeface="Times New Roman" panose="02020603050405020304" pitchFamily="18" charset="0"/>
              </a:rPr>
              <a:t>Higher customer spending patterns indicated opportunities for targeted marketing strategies. </a:t>
            </a:r>
          </a:p>
          <a:p>
            <a:r>
              <a:rPr lang="en-US" dirty="0">
                <a:latin typeface="Times New Roman" panose="02020603050405020304" pitchFamily="18" charset="0"/>
                <a:cs typeface="Times New Roman" panose="02020603050405020304" pitchFamily="18" charset="0"/>
              </a:rPr>
              <a:t>Statistical validation confirmed significant differences in sales behavior among customer groups. </a:t>
            </a:r>
          </a:p>
          <a:p>
            <a:r>
              <a:rPr lang="en-US" dirty="0">
                <a:latin typeface="Times New Roman" panose="02020603050405020304" pitchFamily="18" charset="0"/>
                <a:cs typeface="Times New Roman" panose="02020603050405020304" pitchFamily="18" charset="0"/>
              </a:rPr>
              <a:t>The analysis highlighted areas where businesses can improve sales performance and customer retention. </a:t>
            </a:r>
          </a:p>
          <a:p>
            <a:pPr marL="0" indent="0">
              <a:buNone/>
            </a:pPr>
            <a:endParaRPr lang="en-IN" dirty="0"/>
          </a:p>
        </p:txBody>
      </p:sp>
    </p:spTree>
    <p:extLst>
      <p:ext uri="{BB962C8B-B14F-4D97-AF65-F5344CB8AC3E}">
        <p14:creationId xmlns:p14="http://schemas.microsoft.com/office/powerpoint/2010/main" val="961021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F2BDB-5FEB-A8B6-F59E-E8FFDCFD37F1}"/>
              </a:ext>
            </a:extLst>
          </p:cNvPr>
          <p:cNvSpPr>
            <a:spLocks noGrp="1"/>
          </p:cNvSpPr>
          <p:nvPr>
            <p:ph type="title"/>
          </p:nvPr>
        </p:nvSpPr>
        <p:spPr>
          <a:xfrm>
            <a:off x="838200" y="365125"/>
            <a:ext cx="10515600" cy="1021223"/>
          </a:xfrm>
        </p:spPr>
        <p:txBody>
          <a:bodyPr/>
          <a:lstStyle/>
          <a:p>
            <a:r>
              <a:rPr lang="en-US" b="1" dirty="0">
                <a:latin typeface="Times New Roman" panose="02020603050405020304" pitchFamily="18" charset="0"/>
                <a:cs typeface="Times New Roman" panose="02020603050405020304" pitchFamily="18" charset="0"/>
              </a:rPr>
              <a:t>HYPOTHESIS TESTING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40C71F-7E17-48C6-13E9-4F1C2E796AC2}"/>
              </a:ext>
            </a:extLst>
          </p:cNvPr>
          <p:cNvSpPr>
            <a:spLocks noGrp="1"/>
          </p:cNvSpPr>
          <p:nvPr>
            <p:ph idx="1"/>
          </p:nvPr>
        </p:nvSpPr>
        <p:spPr>
          <a:xfrm>
            <a:off x="838200" y="1465006"/>
            <a:ext cx="10515600" cy="5027869"/>
          </a:xfrm>
        </p:spPr>
        <p:txBody>
          <a:bodyPr>
            <a:normAutofit fontScale="85000" lnSpcReduction="20000"/>
          </a:bodyPr>
          <a:lstStyle/>
          <a:p>
            <a:pPr marL="0" indent="0">
              <a:buNone/>
            </a:pPr>
            <a:r>
              <a:rPr lang="en-US" b="1" dirty="0"/>
              <a:t>Hypothesis Testing</a:t>
            </a:r>
          </a:p>
          <a:p>
            <a:r>
              <a:rPr lang="en-US" dirty="0"/>
              <a:t>Hypothesis testing was performed to statistically validate whether discounts have a significant impact on customer spending behavior.</a:t>
            </a:r>
          </a:p>
          <a:p>
            <a:pPr marL="0" indent="0">
              <a:buNone/>
            </a:pPr>
            <a:r>
              <a:rPr lang="en-US" b="1" dirty="0"/>
              <a:t>Null Hypothesis (H₀):</a:t>
            </a:r>
          </a:p>
          <a:p>
            <a:r>
              <a:rPr lang="en-US" dirty="0"/>
              <a:t>There is no significant difference in total spending between customers who received discounts and those who did not receive discounts.</a:t>
            </a:r>
          </a:p>
          <a:p>
            <a:pPr marL="0" indent="0">
              <a:buNone/>
            </a:pPr>
            <a:r>
              <a:rPr lang="en-US" b="1" dirty="0"/>
              <a:t>Alternative Hypothesis (H₁):</a:t>
            </a:r>
          </a:p>
          <a:p>
            <a:r>
              <a:rPr lang="en-US" dirty="0"/>
              <a:t>There is a significant difference in total spending between customers who received discounts and those who did not receive discounts.</a:t>
            </a:r>
          </a:p>
          <a:p>
            <a:pPr marL="0" indent="0">
              <a:buNone/>
            </a:pPr>
            <a:r>
              <a:rPr lang="en-US" b="1" dirty="0"/>
              <a:t>Statistical Method Used:</a:t>
            </a:r>
          </a:p>
          <a:p>
            <a:r>
              <a:rPr lang="en-US" dirty="0"/>
              <a:t>Independent Sample T-Test </a:t>
            </a:r>
          </a:p>
          <a:p>
            <a:pPr marL="0" indent="0">
              <a:buNone/>
            </a:pPr>
            <a:r>
              <a:rPr lang="en-US" b="1" dirty="0"/>
              <a:t>Result:</a:t>
            </a:r>
          </a:p>
          <a:p>
            <a:r>
              <a:rPr lang="en-US" dirty="0"/>
              <a:t>The calculated p-value was compared with the significance level (α = 0.05). </a:t>
            </a:r>
          </a:p>
          <a:p>
            <a:r>
              <a:rPr lang="en-US" dirty="0"/>
              <a:t>Since the p-value was less than 0.05, the null hypothesis was rejected. </a:t>
            </a:r>
          </a:p>
          <a:p>
            <a:pPr marL="0" indent="0">
              <a:buNone/>
            </a:pPr>
            <a:endParaRPr lang="en-IN" dirty="0"/>
          </a:p>
        </p:txBody>
      </p:sp>
    </p:spTree>
    <p:extLst>
      <p:ext uri="{BB962C8B-B14F-4D97-AF65-F5344CB8AC3E}">
        <p14:creationId xmlns:p14="http://schemas.microsoft.com/office/powerpoint/2010/main" val="1248623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264AD-2045-70A1-62A9-86234E3BDE51}"/>
              </a:ext>
            </a:extLst>
          </p:cNvPr>
          <p:cNvSpPr>
            <a:spLocks noGrp="1"/>
          </p:cNvSpPr>
          <p:nvPr>
            <p:ph type="title"/>
          </p:nvPr>
        </p:nvSpPr>
        <p:spPr>
          <a:xfrm>
            <a:off x="494070" y="374958"/>
            <a:ext cx="10515600" cy="922901"/>
          </a:xfrm>
        </p:spPr>
        <p:txBody>
          <a:bodyPr/>
          <a:lstStyle/>
          <a:p>
            <a:r>
              <a:rPr lang="en-US" b="1" dirty="0">
                <a:latin typeface="Times New Roman" panose="02020603050405020304" pitchFamily="18" charset="0"/>
                <a:cs typeface="Times New Roman" panose="02020603050405020304" pitchFamily="18" charset="0"/>
              </a:rPr>
              <a:t>BUSINESS RECOMMENDATIONS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99D4E0-96DD-FA91-A664-6AE971607495}"/>
              </a:ext>
            </a:extLst>
          </p:cNvPr>
          <p:cNvSpPr>
            <a:spLocks noGrp="1"/>
          </p:cNvSpPr>
          <p:nvPr>
            <p:ph idx="1"/>
          </p:nvPr>
        </p:nvSpPr>
        <p:spPr>
          <a:xfrm>
            <a:off x="838200" y="1297859"/>
            <a:ext cx="10515600" cy="4879104"/>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Offer attractive discounts and promotional campaigns to encourage higher customer spending. </a:t>
            </a:r>
          </a:p>
          <a:p>
            <a:r>
              <a:rPr lang="en-US" dirty="0">
                <a:latin typeface="Times New Roman" panose="02020603050405020304" pitchFamily="18" charset="0"/>
                <a:cs typeface="Times New Roman" panose="02020603050405020304" pitchFamily="18" charset="0"/>
              </a:rPr>
              <a:t>Focus more on high-performing product categories to maximize sales and profitability. </a:t>
            </a:r>
          </a:p>
          <a:p>
            <a:r>
              <a:rPr lang="en-US" dirty="0">
                <a:latin typeface="Times New Roman" panose="02020603050405020304" pitchFamily="18" charset="0"/>
                <a:cs typeface="Times New Roman" panose="02020603050405020304" pitchFamily="18" charset="0"/>
              </a:rPr>
              <a:t>Implement personalized marketing strategies based on customer purchasing behavior and preferences. </a:t>
            </a:r>
          </a:p>
          <a:p>
            <a:r>
              <a:rPr lang="en-US" dirty="0">
                <a:latin typeface="Times New Roman" panose="02020603050405020304" pitchFamily="18" charset="0"/>
                <a:cs typeface="Times New Roman" panose="02020603050405020304" pitchFamily="18" charset="0"/>
              </a:rPr>
              <a:t>Improve customer retention programs for frequent and loyal shoppers. </a:t>
            </a:r>
          </a:p>
          <a:p>
            <a:r>
              <a:rPr lang="en-US" dirty="0">
                <a:latin typeface="Times New Roman" panose="02020603050405020304" pitchFamily="18" charset="0"/>
                <a:cs typeface="Times New Roman" panose="02020603050405020304" pitchFamily="18" charset="0"/>
              </a:rPr>
              <a:t>Enhance digital payment options to provide faster and more convenient transactions. </a:t>
            </a:r>
          </a:p>
          <a:p>
            <a:r>
              <a:rPr lang="en-US" dirty="0">
                <a:latin typeface="Times New Roman" panose="02020603050405020304" pitchFamily="18" charset="0"/>
                <a:cs typeface="Times New Roman" panose="02020603050405020304" pitchFamily="18" charset="0"/>
              </a:rPr>
              <a:t>Use customer segmentation techniques to target specific customer groups effectively. </a:t>
            </a:r>
          </a:p>
          <a:p>
            <a:r>
              <a:rPr lang="en-US" dirty="0">
                <a:latin typeface="Times New Roman" panose="02020603050405020304" pitchFamily="18" charset="0"/>
                <a:cs typeface="Times New Roman" panose="02020603050405020304" pitchFamily="18" charset="0"/>
              </a:rPr>
              <a:t>Monitor sales trends and customer feedback regularly to improve business performance. </a:t>
            </a:r>
          </a:p>
          <a:p>
            <a:r>
              <a:rPr lang="en-US" dirty="0">
                <a:latin typeface="Times New Roman" panose="02020603050405020304" pitchFamily="18" charset="0"/>
                <a:cs typeface="Times New Roman" panose="02020603050405020304" pitchFamily="18" charset="0"/>
              </a:rPr>
              <a:t>Apply data-driven decision-making and statistical analysis for future business strategies and planning. </a:t>
            </a:r>
          </a:p>
          <a:p>
            <a:pPr marL="0" indent="0">
              <a:buNone/>
            </a:pPr>
            <a:endParaRPr lang="en-IN" dirty="0"/>
          </a:p>
        </p:txBody>
      </p:sp>
    </p:spTree>
    <p:extLst>
      <p:ext uri="{BB962C8B-B14F-4D97-AF65-F5344CB8AC3E}">
        <p14:creationId xmlns:p14="http://schemas.microsoft.com/office/powerpoint/2010/main" val="1246340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3B059-7332-8A6B-2B70-114E2033B984}"/>
              </a:ext>
            </a:extLst>
          </p:cNvPr>
          <p:cNvSpPr>
            <a:spLocks noGrp="1"/>
          </p:cNvSpPr>
          <p:nvPr>
            <p:ph type="title"/>
          </p:nvPr>
        </p:nvSpPr>
        <p:spPr>
          <a:xfrm>
            <a:off x="838200" y="365125"/>
            <a:ext cx="10515600" cy="1011391"/>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202204-9E9D-B124-7C29-B523A3588ACB}"/>
              </a:ext>
            </a:extLst>
          </p:cNvPr>
          <p:cNvSpPr>
            <a:spLocks noGrp="1"/>
          </p:cNvSpPr>
          <p:nvPr>
            <p:ph idx="1"/>
          </p:nvPr>
        </p:nvSpPr>
        <p:spPr>
          <a:xfrm>
            <a:off x="838200" y="1376516"/>
            <a:ext cx="10515600" cy="5230761"/>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The Data Storytelling and Statistical Validation project successfully analyzed the </a:t>
            </a:r>
            <a:r>
              <a:rPr lang="en-US" b="1" dirty="0">
                <a:latin typeface="Times New Roman" panose="02020603050405020304" pitchFamily="18" charset="0"/>
                <a:cs typeface="Times New Roman" panose="02020603050405020304" pitchFamily="18" charset="0"/>
              </a:rPr>
              <a:t>E-commerce Customer Behavior</a:t>
            </a:r>
            <a:r>
              <a:rPr lang="en-US" dirty="0">
                <a:latin typeface="Times New Roman" panose="02020603050405020304" pitchFamily="18" charset="0"/>
                <a:cs typeface="Times New Roman" panose="02020603050405020304" pitchFamily="18" charset="0"/>
              </a:rPr>
              <a:t> dataset to identify meaningful business insights and customer trends. Through data cleaning, visualization, exploratory analysis, and hypothesis testing, the project transformed raw data into actionable information for decision-making.</a:t>
            </a:r>
          </a:p>
          <a:p>
            <a:pPr marL="0" indent="0">
              <a:buNone/>
            </a:pPr>
            <a:r>
              <a:rPr lang="en-US" dirty="0">
                <a:latin typeface="Times New Roman" panose="02020603050405020304" pitchFamily="18" charset="0"/>
                <a:cs typeface="Times New Roman" panose="02020603050405020304" pitchFamily="18" charset="0"/>
              </a:rPr>
              <a:t>The analysis revealed that factors such as discounts, shopping frequency, and product preferences significantly influence customer spending behavior. Statistical validation confirmed that discounts have a measurable impact on total customer spending, helping businesses understand the effectiveness of promotional strategies.</a:t>
            </a:r>
          </a:p>
          <a:p>
            <a:pPr marL="0" indent="0">
              <a:buNone/>
            </a:pPr>
            <a:r>
              <a:rPr lang="en-US" dirty="0">
                <a:latin typeface="Times New Roman" panose="02020603050405020304" pitchFamily="18" charset="0"/>
                <a:cs typeface="Times New Roman" panose="02020603050405020304" pitchFamily="18" charset="0"/>
              </a:rPr>
              <a:t>The interactive dashboard and storytelling approach made complex data easier to interpret and communicate. Overall, this project demonstrates how data analytics and statistical methods can support businesses in improving customer engagement, increasing sales performance, and making informed, data-driven decisions.</a:t>
            </a:r>
          </a:p>
          <a:p>
            <a:pPr marL="0" indent="0">
              <a:buNone/>
            </a:pPr>
            <a:endParaRPr lang="en-IN" dirty="0"/>
          </a:p>
        </p:txBody>
      </p:sp>
    </p:spTree>
    <p:extLst>
      <p:ext uri="{BB962C8B-B14F-4D97-AF65-F5344CB8AC3E}">
        <p14:creationId xmlns:p14="http://schemas.microsoft.com/office/powerpoint/2010/main" val="60046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91D0-FEB1-032E-6253-36D9D6FF05C8}"/>
              </a:ext>
            </a:extLst>
          </p:cNvPr>
          <p:cNvSpPr>
            <a:spLocks noGrp="1"/>
          </p:cNvSpPr>
          <p:nvPr>
            <p:ph type="title"/>
          </p:nvPr>
        </p:nvSpPr>
        <p:spPr>
          <a:xfrm>
            <a:off x="838200" y="1257454"/>
            <a:ext cx="10515600" cy="2852737"/>
          </a:xfrm>
        </p:spPr>
        <p:txBody>
          <a:bodyPr>
            <a:normAutofit/>
          </a:bodyPr>
          <a:lstStyle/>
          <a:p>
            <a:r>
              <a:rPr lang="en-US" sz="9600" dirty="0">
                <a:latin typeface="Viner Hand ITC" panose="03070502030502020203" pitchFamily="66" charset="0"/>
              </a:rPr>
              <a:t>     THANK YOU </a:t>
            </a:r>
            <a:endParaRPr lang="en-IN" sz="9600" dirty="0">
              <a:latin typeface="Viner Hand ITC" panose="03070502030502020203" pitchFamily="66" charset="0"/>
            </a:endParaRPr>
          </a:p>
        </p:txBody>
      </p:sp>
    </p:spTree>
    <p:extLst>
      <p:ext uri="{BB962C8B-B14F-4D97-AF65-F5344CB8AC3E}">
        <p14:creationId xmlns:p14="http://schemas.microsoft.com/office/powerpoint/2010/main" val="517666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1115</Words>
  <Application>Microsoft Office PowerPoint</Application>
  <PresentationFormat>Widescreen</PresentationFormat>
  <Paragraphs>98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Viner Hand ITC</vt:lpstr>
      <vt:lpstr>Office Theme</vt:lpstr>
      <vt:lpstr>     DATA STORYTELLING &amp; STATISTICAL VALIDATION</vt:lpstr>
      <vt:lpstr>OBJECTIVES</vt:lpstr>
      <vt:lpstr>DATASET OVERVIEW</vt:lpstr>
      <vt:lpstr>PowerPoint Presentation</vt:lpstr>
      <vt:lpstr>DATA CLEANING</vt:lpstr>
      <vt:lpstr>DASHBOARD OVERVIEW</vt:lpstr>
      <vt:lpstr>PowerPoint Presentation</vt:lpstr>
      <vt:lpstr>PowerPoint Presentation</vt:lpstr>
      <vt:lpstr>PowerPoint Presentation</vt:lpstr>
      <vt:lpstr>PowerPoint Presentation</vt:lpstr>
      <vt:lpstr>CUSTOMER INSIGHTS</vt:lpstr>
      <vt:lpstr>SALES INSIGHTS</vt:lpstr>
      <vt:lpstr>HYPOTHESIS TESTING</vt:lpstr>
      <vt:lpstr>BUSINESS RECOMMENDATIONS</vt:lpstr>
      <vt:lpstr>CONCLUSION</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dhudukala thapaswini</dc:creator>
  <cp:lastModifiedBy>dhudukala thapaswini</cp:lastModifiedBy>
  <cp:revision>1</cp:revision>
  <dcterms:created xsi:type="dcterms:W3CDTF">2026-05-22T05:46:02Z</dcterms:created>
  <dcterms:modified xsi:type="dcterms:W3CDTF">2026-05-22T06:16:19Z</dcterms:modified>
</cp:coreProperties>
</file>